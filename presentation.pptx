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60" r:id="rId3"/>
    <p:sldId id="272" r:id="rId4"/>
    <p:sldId id="261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7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3" d="100"/>
          <a:sy n="73" d="100"/>
        </p:scale>
        <p:origin x="1042" y="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D53B1D-7E0F-4F39-9867-4F9412E9E137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4280B2-41DB-47F3-A93B-C29883E6E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436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4D235-69D4-C1E4-435F-93EBE5279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594155-7FA2-7C10-FECD-0899D24263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1FBE9D-3F37-6CCB-53B8-93D8478F50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D0D5B6-968D-BB92-A114-76BB785D42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6515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280B2-41DB-47F3-A93B-C29883E6E27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9256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7F3A8-4C14-7D32-BB9C-8974E194DB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8AE9FF-1428-777A-F900-7AEE21BCCB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9C903E-DE3B-58AC-F7C1-77DA7E5EF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92317-E501-4E2B-9B53-DBBD737956F2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2D34D1-21A0-F34A-9C54-3C662ADC8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93E82F-1A1D-5EDC-6642-BEEC34ABE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9A650-3AA8-4E65-87C3-1C23E994A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644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7BF28-65E0-E9CE-F108-9D179DCF0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3C2764-525E-CD38-A781-60B6E97B5B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0ACC4-2CCE-529F-66F4-41AFC9F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92317-E501-4E2B-9B53-DBBD737956F2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3BA4B2-99AA-8C6E-C482-87621A662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2C12C-FF54-F8C6-E931-8DC4FCE83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9A650-3AA8-4E65-87C3-1C23E994A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71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24C23-2982-7C20-17EB-E89A2A4A7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19185A-10E5-AE90-E9D3-60C02A0D6D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7A698C-0475-5198-52D0-11E60372D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92317-E501-4E2B-9B53-DBBD737956F2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AC9DF5-0B69-2DE3-1BBC-F633C0325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1F6B2F-9EC2-65C0-249F-6FB41AA7D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9A650-3AA8-4E65-87C3-1C23E994A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351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E98FD-12CB-22F2-635E-01A022A6E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1B9A4A-359C-CFA8-8352-9BFF5EF5E2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CFB534-4DBA-9256-7F45-E0DB813C9C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B8D357-70C7-E47C-D58E-7DC5DF8B0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92317-E501-4E2B-9B53-DBBD737956F2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212E06-CCBB-B000-E11E-EE7792AEF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1429A9-0D92-8DCD-ACAF-19032EB41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9A650-3AA8-4E65-87C3-1C23E994A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160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5CF15-0732-4EA9-A847-6D8D86D72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81F4BC-9A0D-ADF8-E164-4CDA82C245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500036-AA6F-D1A8-5A22-523B2F8066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926624-FFF4-9B46-4457-E9B82096A4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02C953-FEDD-3C8B-DA5B-A38562FEE6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FB71DE-2044-D0FD-89B1-669E31C38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92317-E501-4E2B-9B53-DBBD737956F2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79942A-22D6-9ED3-8954-A702B0EC8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F12080-03D2-BDAB-C65D-CE59D333E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9A650-3AA8-4E65-87C3-1C23E994A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757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9A54C-6148-6E88-664D-BC63662E6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E61502-4CD0-5232-6082-42898E0EE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92317-E501-4E2B-9B53-DBBD737956F2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9FCDD3-19C2-03DC-65DD-74ADFE6F9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0E1B81-748A-79C3-4C22-90759993E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9A650-3AA8-4E65-87C3-1C23E994A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27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316F86-376E-CF1E-C5AB-84256822E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92317-E501-4E2B-9B53-DBBD737956F2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D2DF83-1F1B-63ED-A126-DAE02B6FF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1443EA-E34B-6910-C0E2-15B259520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9A650-3AA8-4E65-87C3-1C23E994A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946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C0BB2-9C1F-A8B6-398F-C878602D2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184D3-B2DF-F4F8-69AD-D789F1A0A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B4060A-20F8-88F9-31DB-009230AF91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20C9D0-CF79-CD4B-E343-0F63A6EC0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92317-E501-4E2B-9B53-DBBD737956F2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745C52-C7BD-C6BF-1C22-9637D8E99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47E728-1FFD-022C-A93D-5C7FF5C2D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9A650-3AA8-4E65-87C3-1C23E994A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751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A4EC3-9C2A-4D98-50A1-C28676E8F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BD2E9C-E040-D93A-DE6B-7229EA8572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F60775-7B8B-53E4-2FE3-8EC51D542A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31AE58-55CA-762B-72C0-5367A3174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92317-E501-4E2B-9B53-DBBD737956F2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1ACD3F-F3CC-FDC9-37D3-BCDC7B526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2AD33B-095B-6BA0-7B68-65A1D9BCE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9A650-3AA8-4E65-87C3-1C23E994A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429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C386A-9298-8CE3-3517-092109759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68F353-7AEF-BDE0-31F7-3E91C2504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3FA60B-D89F-34AE-1AFF-57585CA76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92317-E501-4E2B-9B53-DBBD737956F2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BFCF70-6D0D-55F6-FF7C-BFF9828EA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F03D71-30B4-1712-D0BE-40E55ABDF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9A650-3AA8-4E65-87C3-1C23E994A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061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F91B62-31D2-0F51-E74E-AB8CFFB369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14FA5B-CEC9-A2EE-4A00-5135725011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5FCBEA-F6C6-59A9-7888-34E0E2E7E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92317-E501-4E2B-9B53-DBBD737956F2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142880-0A08-D4BC-104E-EC76805D3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08EA8-96F0-108D-5AFB-4A94B663B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9A650-3AA8-4E65-87C3-1C23E994A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620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79D23F-FC92-FD49-98B6-8D20033E8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94E532-6BC4-B409-3502-A32F2598D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F88770-1694-D041-9F8B-C6D5A7B239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492317-E501-4E2B-9B53-DBBD737956F2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0D7E6A-7223-FDBC-8B9A-D5114FEECD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A156C6-72BE-AEDE-4C73-2A260DA0F1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29A650-3AA8-4E65-87C3-1C23E994A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592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712.09665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004.05682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Chenglin-Yang" TargetMode="External"/><Relationship Id="rId5" Type="http://schemas.openxmlformats.org/officeDocument/2006/relationships/image" Target="../media/image2.png"/><Relationship Id="rId4" Type="http://schemas.openxmlformats.org/officeDocument/2006/relationships/hyperlink" Target="https://www.image-net.org/challenges/LSVRC/2012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henglin-Yang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ieeexplore.ieee.org/stamp/stamp.jsp?tp=&amp;arnumber=10225573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6D4375-CB70-15F5-D84C-21BC0EA333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93338"/>
            <a:ext cx="9144000" cy="3274592"/>
          </a:xfrm>
        </p:spPr>
        <p:txBody>
          <a:bodyPr anchor="ctr">
            <a:normAutofit/>
          </a:bodyPr>
          <a:lstStyle/>
          <a:p>
            <a:r>
              <a:rPr lang="en-US" sz="4500" b="1" dirty="0"/>
              <a:t>Geometry-Aware Patch Attacks: ShapeAware and PatchCross</a:t>
            </a:r>
            <a:endParaRPr lang="en-US" sz="45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535164-5652-3DD0-0FC0-26D5813E23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5270827"/>
            <a:ext cx="9144000" cy="651910"/>
          </a:xfrm>
        </p:spPr>
        <p:txBody>
          <a:bodyPr anchor="ctr">
            <a:normAutofit fontScale="77500" lnSpcReduction="20000"/>
          </a:bodyPr>
          <a:lstStyle/>
          <a:p>
            <a:r>
              <a:rPr lang="en-US" dirty="0"/>
              <a:t>Presented by : Ahmed Abdelkader Ahmed</a:t>
            </a:r>
          </a:p>
          <a:p>
            <a:r>
              <a:rPr lang="en-US" dirty="0"/>
              <a:t>Under the supervision of : Dr. Muzammil Behzad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4031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7580A3-3BC6-2357-040B-506C74703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300" dirty="0"/>
              <a:t>Patch-based attacks </a:t>
            </a: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FCAC4A4-88E4-93D1-43C5-D5B53235D223}"/>
              </a:ext>
            </a:extLst>
          </p:cNvPr>
          <p:cNvGrpSpPr/>
          <p:nvPr/>
        </p:nvGrpSpPr>
        <p:grpSpPr>
          <a:xfrm>
            <a:off x="3213630" y="2075348"/>
            <a:ext cx="5760142" cy="4031137"/>
            <a:chOff x="6598763" y="2268824"/>
            <a:chExt cx="4755037" cy="3459403"/>
          </a:xfrm>
        </p:grpSpPr>
        <p:pic>
          <p:nvPicPr>
            <p:cNvPr id="9" name="Picture 8" descr="A banana and a diagram&#10;&#10;AI-generated content may be incorrect.">
              <a:extLst>
                <a:ext uri="{FF2B5EF4-FFF2-40B4-BE49-F238E27FC236}">
                  <a16:creationId xmlns:a16="http://schemas.microsoft.com/office/drawing/2014/main" id="{CE8B195D-E33B-DC42-301C-6A9BDE6F27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09604" y="2268824"/>
              <a:ext cx="4644196" cy="2903676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F7E65B9-E1CE-3DA7-4022-411C634E6282}"/>
                </a:ext>
              </a:extLst>
            </p:cNvPr>
            <p:cNvSpPr txBox="1"/>
            <p:nvPr/>
          </p:nvSpPr>
          <p:spPr>
            <a:xfrm>
              <a:off x="6598763" y="5213954"/>
              <a:ext cx="4755037" cy="5142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813816">
                <a:spcAft>
                  <a:spcPts val="600"/>
                </a:spcAft>
              </a:pPr>
              <a:r>
                <a:rPr lang="en-US" sz="1602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Figure 1: An adversarial </a:t>
              </a:r>
              <a:r>
                <a:rPr lang="en-US" sz="1602" b="1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patch-based</a:t>
              </a:r>
              <a:r>
                <a:rPr lang="en-US" sz="1602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 attack in action. (</a:t>
              </a:r>
              <a:r>
                <a:rPr lang="en-US" sz="1600" dirty="0"/>
                <a:t>Source:</a:t>
              </a:r>
              <a:r>
                <a:rPr lang="en-US" sz="1602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en-US" sz="1602" u="sng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hlinkClick r:id="rId3"/>
                </a:rPr>
                <a:t>T. B. Brown et al.</a:t>
              </a:r>
              <a:r>
                <a:rPr lang="en-US" sz="1602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) 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326639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67E5A7-9A2A-1531-B03A-79C1AC0CE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A5DD3F-56F6-07A6-305E-B9C039229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2" y="626334"/>
            <a:ext cx="11692629" cy="1298448"/>
          </a:xfrm>
        </p:spPr>
        <p:txBody>
          <a:bodyPr anchor="b">
            <a:normAutofit fontScale="90000"/>
          </a:bodyPr>
          <a:lstStyle/>
          <a:p>
            <a:r>
              <a:rPr lang="en-US" sz="4800" dirty="0"/>
              <a:t>PatchAttack: Texture-based Patch Attack (TPA)</a:t>
            </a:r>
            <a:r>
              <a:rPr lang="en-US" sz="1300" u="sng" dirty="0"/>
              <a:t>(</a:t>
            </a:r>
            <a:r>
              <a:rPr lang="en-US" sz="1300" dirty="0">
                <a:hlinkClick r:id="rId3"/>
              </a:rPr>
              <a:t>Chenglin-Yang</a:t>
            </a:r>
            <a:r>
              <a:rPr lang="en-US" sz="1300" dirty="0"/>
              <a:t>)</a:t>
            </a:r>
            <a:r>
              <a:rPr lang="en-US" sz="4800" dirty="0"/>
              <a:t>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47FD5-EFA8-FE47-E592-93B5E0883A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5197641" cy="2382926"/>
          </a:xfrm>
        </p:spPr>
        <p:txBody>
          <a:bodyPr anchor="ctr">
            <a:normAutofit/>
          </a:bodyPr>
          <a:lstStyle/>
          <a:p>
            <a:r>
              <a:rPr lang="en-US" sz="2000" dirty="0"/>
              <a:t>Synthesize texture images from </a:t>
            </a:r>
            <a:r>
              <a:rPr lang="en-US" sz="2000" dirty="0">
                <a:hlinkClick r:id="rId4"/>
              </a:rPr>
              <a:t>ImageNet ILSVRC 2012</a:t>
            </a:r>
            <a:r>
              <a:rPr lang="en-US" sz="2000" dirty="0"/>
              <a:t>.</a:t>
            </a:r>
          </a:p>
          <a:p>
            <a:r>
              <a:rPr lang="en-US" sz="2000" dirty="0"/>
              <a:t>There are 30 texture for each of the 1000 ImageNet classes.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5C9DAE-552D-3DA5-B900-1F137674AF41}"/>
              </a:ext>
            </a:extLst>
          </p:cNvPr>
          <p:cNvGrpSpPr/>
          <p:nvPr/>
        </p:nvGrpSpPr>
        <p:grpSpPr>
          <a:xfrm>
            <a:off x="5181618" y="2232559"/>
            <a:ext cx="6361081" cy="4152819"/>
            <a:chOff x="349839" y="-313313"/>
            <a:chExt cx="11410141" cy="744908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26CEC32-E998-03A1-7936-EC3602D5BCB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30624"/>
            <a:stretch>
              <a:fillRect/>
            </a:stretch>
          </p:blipFill>
          <p:spPr>
            <a:xfrm>
              <a:off x="2461239" y="-313313"/>
              <a:ext cx="7187338" cy="6897017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6E3B32B-E509-C9AC-7245-9A86DCC621F9}"/>
                </a:ext>
              </a:extLst>
            </p:cNvPr>
            <p:cNvSpPr txBox="1"/>
            <p:nvPr/>
          </p:nvSpPr>
          <p:spPr>
            <a:xfrm>
              <a:off x="349839" y="6583703"/>
              <a:ext cx="11410141" cy="5520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502920">
                <a:spcAft>
                  <a:spcPts val="600"/>
                </a:spcAft>
              </a:pPr>
              <a:r>
                <a:rPr lang="en-US" sz="14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Figure 2: Examples in our designed texture dictionary. </a:t>
              </a:r>
              <a:r>
                <a:rPr lang="en-US" sz="1400" u="sng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(</a:t>
              </a:r>
              <a:r>
                <a:rPr lang="en-US" sz="14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hlinkClick r:id="rId6"/>
                </a:rPr>
                <a:t>Chenglin-Yang</a:t>
              </a:r>
              <a:r>
                <a:rPr lang="en-US" sz="14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 (Cropped))</a:t>
              </a:r>
              <a:endParaRPr lang="en-US" sz="3600" dirty="0"/>
            </a:p>
          </p:txBody>
        </p:sp>
      </p:grpSp>
    </p:spTree>
    <p:extLst>
      <p:ext uri="{BB962C8B-B14F-4D97-AF65-F5344CB8AC3E}">
        <p14:creationId xmlns:p14="http://schemas.microsoft.com/office/powerpoint/2010/main" val="3543275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A0539C-8E81-EDEF-5988-71A6D2550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C1A1C5D3-C053-4EE9-BE1A-419B6E27C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A3473CF9-37EB-43E7-89EF-D2D1C53D1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615" y="221673"/>
            <a:ext cx="8384770" cy="1332634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E41A5B-42E6-5237-49D1-BE5895302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3121" y="310343"/>
            <a:ext cx="7985759" cy="8688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300" dirty="0"/>
              <a:t>PatchAttack TPA loop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586B4EF9-43BA-4655-A6FF-1D8E21574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3110" y="1211407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4" name="Picture 2" descr="A yellow sports car in a showroom&#10;&#10;AI-generated content may be incorrect.">
            <a:extLst>
              <a:ext uri="{FF2B5EF4-FFF2-40B4-BE49-F238E27FC236}">
                <a16:creationId xmlns:a16="http://schemas.microsoft.com/office/drawing/2014/main" id="{57E4DE6C-6CDF-19F7-8448-4C7EFF7D43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59522" y="2148891"/>
            <a:ext cx="9672954" cy="3312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C902560-6CAE-6B70-297C-305344CDFF56}"/>
              </a:ext>
            </a:extLst>
          </p:cNvPr>
          <p:cNvSpPr txBox="1"/>
          <p:nvPr/>
        </p:nvSpPr>
        <p:spPr>
          <a:xfrm>
            <a:off x="905757" y="6056461"/>
            <a:ext cx="10380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Figure 3: black-box texture-based patch attack via reinforcement learning. </a:t>
            </a:r>
            <a:r>
              <a:rPr lang="en-US" u="sng" dirty="0"/>
              <a:t>(</a:t>
            </a:r>
            <a:r>
              <a:rPr lang="en-US" dirty="0"/>
              <a:t>Source: </a:t>
            </a:r>
            <a:r>
              <a:rPr lang="en-US" dirty="0" err="1">
                <a:hlinkClick r:id="rId3"/>
              </a:rPr>
              <a:t>Chenglin</a:t>
            </a:r>
            <a:r>
              <a:rPr lang="en-US" dirty="0">
                <a:hlinkClick r:id="rId3"/>
              </a:rPr>
              <a:t>-Yang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27249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B99D23-ACD6-B64E-38C5-7286E43B4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300" dirty="0"/>
              <a:t>TPA Limitations:</a:t>
            </a:r>
          </a:p>
        </p:txBody>
      </p:sp>
      <p:sp>
        <p:nvSpPr>
          <p:cNvPr id="72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C4F1206-543A-BA5A-8D12-013A7DEBB3EF}"/>
              </a:ext>
            </a:extLst>
          </p:cNvPr>
          <p:cNvSpPr txBox="1"/>
          <p:nvPr/>
        </p:nvSpPr>
        <p:spPr>
          <a:xfrm>
            <a:off x="630936" y="2660904"/>
            <a:ext cx="4818888" cy="35478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Fixed geometry.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Weak reward function.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Limited camouflage ability.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73825C9-8AB3-C012-771F-B861483FC29D}"/>
              </a:ext>
            </a:extLst>
          </p:cNvPr>
          <p:cNvGrpSpPr/>
          <p:nvPr/>
        </p:nvGrpSpPr>
        <p:grpSpPr>
          <a:xfrm>
            <a:off x="6099048" y="1240977"/>
            <a:ext cx="5458968" cy="4376046"/>
            <a:chOff x="5356606" y="327223"/>
            <a:chExt cx="5444358" cy="4364334"/>
          </a:xfrm>
        </p:grpSpPr>
        <p:pic>
          <p:nvPicPr>
            <p:cNvPr id="6" name="Picture 5" descr="A red train on the tracks&#10;&#10;AI-generated content may be incorrect.">
              <a:extLst>
                <a:ext uri="{FF2B5EF4-FFF2-40B4-BE49-F238E27FC236}">
                  <a16:creationId xmlns:a16="http://schemas.microsoft.com/office/drawing/2014/main" id="{86A1427F-15B0-6514-954A-6BB5931529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34515" y="327223"/>
              <a:ext cx="3886208" cy="3813056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0E55FAE-6F7D-2ADF-10EC-42063905A514}"/>
                </a:ext>
              </a:extLst>
            </p:cNvPr>
            <p:cNvSpPr txBox="1"/>
            <p:nvPr/>
          </p:nvSpPr>
          <p:spPr>
            <a:xfrm>
              <a:off x="5356606" y="4045226"/>
              <a:ext cx="544435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US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Figure 4. Adversarial generated image by </a:t>
              </a:r>
              <a:r>
                <a:rPr lang="en-US" i="1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PatchAttack</a:t>
              </a:r>
              <a:r>
                <a:rPr lang="en-US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 classified as Pinwheel by </a:t>
              </a:r>
              <a:r>
                <a:rPr lang="en-US" kern="1200" dirty="0" err="1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ResNet</a:t>
              </a:r>
              <a:r>
                <a:rPr lang="en-US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-50.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08873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ight Triangle 28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8885A2-B481-1FEE-06AD-45F57609C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6" y="1188637"/>
            <a:ext cx="3248099" cy="4480726"/>
          </a:xfrm>
        </p:spPr>
        <p:txBody>
          <a:bodyPr>
            <a:normAutofit/>
          </a:bodyPr>
          <a:lstStyle/>
          <a:p>
            <a:r>
              <a:rPr lang="en-US" sz="4300" dirty="0"/>
              <a:t>Methodology Overview :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3D6AAFF3-A5ED-2312-A737-E29CB17F56E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55259" y="1755228"/>
            <a:ext cx="5360179" cy="345390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 lnSpcReduction="10000"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Built on PatchAttack (TPA):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RL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-based, texture dictionary, early stopping.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endParaRPr kumimoji="0" lang="en-US" altLang="en-US" sz="19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1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ShapeAware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adds shape head and area-aware reward.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endParaRPr kumimoji="0" lang="en-US" altLang="en-US" sz="1900" b="1" i="1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1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PatchCross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specializes to 1-pixel X mask, same reward as PatchAttack.</a:t>
            </a:r>
            <a:r>
              <a:rPr lang="en-US" altLang="en-US" sz="1900" dirty="0">
                <a:latin typeface="Arial" panose="020B0604020202020204" pitchFamily="34" charset="0"/>
              </a:rPr>
              <a:t> (The X shape inspired from </a:t>
            </a:r>
            <a:r>
              <a:rPr lang="en-US" altLang="en-US" sz="1900" dirty="0">
                <a:latin typeface="Arial" panose="020B0604020202020204" pitchFamily="34" charset="0"/>
                <a:hlinkClick r:id="rId2"/>
              </a:rPr>
              <a:t>CSPA</a:t>
            </a:r>
            <a:r>
              <a:rPr lang="en-US" altLang="en-US" sz="1900" dirty="0">
                <a:latin typeface="Arial" panose="020B0604020202020204" pitchFamily="34" charset="0"/>
              </a:rPr>
              <a:t>)</a:t>
            </a:r>
            <a:endParaRPr kumimoji="0" lang="en-US" altLang="en-US" sz="19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endParaRPr kumimoji="0" lang="en-US" altLang="en-US" sz="19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Unified RL framework under identical budgets.</a:t>
            </a:r>
          </a:p>
        </p:txBody>
      </p:sp>
    </p:spTree>
    <p:extLst>
      <p:ext uri="{BB962C8B-B14F-4D97-AF65-F5344CB8AC3E}">
        <p14:creationId xmlns:p14="http://schemas.microsoft.com/office/powerpoint/2010/main" val="2747045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FAB099-8973-DD8A-4AF2-9A3CD0363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US" sz="4300" dirty="0"/>
              <a:t>ShapeAware: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14B0E-44CF-22BC-9497-46302A7EC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r>
              <a:rPr lang="en-US" sz="2200" dirty="0"/>
              <a:t>Shape head (circle, triangle, square) expands the action space.</a:t>
            </a:r>
          </a:p>
          <a:p>
            <a:r>
              <a:rPr lang="en-US" sz="2200" dirty="0"/>
              <a:t>Area-aware reward: encourages compact and overlapping patches,</a:t>
            </a:r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r>
              <a:rPr lang="en-US" sz="2200" dirty="0"/>
              <a:t> Area penalty is calculated based on multi-agent cumulative union mask.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8C0DEB-6F37-ADA1-1BCA-BC768DB257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2078" y="4133245"/>
            <a:ext cx="3995928" cy="959023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0C8C2255-EC51-C537-8DC5-D1FBE0DB1AA4}"/>
              </a:ext>
            </a:extLst>
          </p:cNvPr>
          <p:cNvGrpSpPr/>
          <p:nvPr/>
        </p:nvGrpSpPr>
        <p:grpSpPr>
          <a:xfrm>
            <a:off x="7702903" y="1320231"/>
            <a:ext cx="4068683" cy="4816835"/>
            <a:chOff x="7702903" y="1320231"/>
            <a:chExt cx="4068683" cy="481683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373587E-BEF7-579A-054B-17EE85E734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02903" y="1320231"/>
              <a:ext cx="3953069" cy="3874008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1918AB2-6EB1-30D3-E38E-7160836451AE}"/>
                </a:ext>
              </a:extLst>
            </p:cNvPr>
            <p:cNvSpPr txBox="1"/>
            <p:nvPr/>
          </p:nvSpPr>
          <p:spPr>
            <a:xfrm>
              <a:off x="7702903" y="5213736"/>
              <a:ext cx="406868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US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Figure 5. Adversarial generated image by </a:t>
              </a:r>
              <a:r>
                <a:rPr lang="en-US" i="1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ShapeAware</a:t>
              </a:r>
              <a:r>
                <a:rPr lang="en-US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 classified as Pinwheel by ResNet-50.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042870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B7C674-0C94-7060-34AD-962A449E5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4300" dirty="0"/>
              <a:t>PatchCross:</a:t>
            </a:r>
          </a:p>
        </p:txBody>
      </p:sp>
      <p:sp>
        <p:nvSpPr>
          <p:cNvPr id="18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9B6B7-DE60-9E0E-CCC5-29EA21A7C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/>
          </a:bodyPr>
          <a:lstStyle/>
          <a:p>
            <a:r>
              <a:rPr lang="en-US" sz="2200" dirty="0"/>
              <a:t>Geometry specialized to an X-shaped mask (two diagonals).</a:t>
            </a:r>
          </a:p>
          <a:p>
            <a:r>
              <a:rPr lang="en-US" sz="2200" dirty="0"/>
              <a:t>Reward:</a:t>
            </a:r>
          </a:p>
          <a:p>
            <a:endParaRPr lang="en-US" sz="2200" dirty="0"/>
          </a:p>
          <a:p>
            <a:pPr marL="0" indent="0">
              <a:buNone/>
            </a:pPr>
            <a:endParaRPr lang="en-US" sz="2200" dirty="0"/>
          </a:p>
          <a:p>
            <a:r>
              <a:rPr lang="en-US" sz="2200" dirty="0"/>
              <a:t>Thin strokes for strong camouflage; Extremely small area yet high ASR and query efficiency.</a:t>
            </a:r>
          </a:p>
          <a:p>
            <a:endParaRPr lang="en-US" sz="2200" dirty="0"/>
          </a:p>
          <a:p>
            <a:endParaRPr lang="en-US" sz="2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F59B2B7-33C1-E20F-F6FE-EBD80CF5AE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2528" y="3147856"/>
            <a:ext cx="3805402" cy="821251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DABBB1CC-329A-67EA-014E-F64C963F0AA7}"/>
              </a:ext>
            </a:extLst>
          </p:cNvPr>
          <p:cNvGrpSpPr/>
          <p:nvPr/>
        </p:nvGrpSpPr>
        <p:grpSpPr>
          <a:xfrm>
            <a:off x="7286044" y="2093976"/>
            <a:ext cx="4986675" cy="4650503"/>
            <a:chOff x="7286044" y="2093976"/>
            <a:chExt cx="4986675" cy="4650503"/>
          </a:xfrm>
        </p:grpSpPr>
        <p:pic>
          <p:nvPicPr>
            <p:cNvPr id="6" name="Picture 5" descr="A goldfish swimming in water&#10;&#10;AI-generated content may be incorrect.">
              <a:extLst>
                <a:ext uri="{FF2B5EF4-FFF2-40B4-BE49-F238E27FC236}">
                  <a16:creationId xmlns:a16="http://schemas.microsoft.com/office/drawing/2014/main" id="{196E9756-DD93-860A-87E0-897716CC6D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716" b="-3"/>
            <a:stretch>
              <a:fillRect/>
            </a:stretch>
          </p:blipFill>
          <p:spPr>
            <a:xfrm>
              <a:off x="7675658" y="2093976"/>
              <a:ext cx="3941064" cy="4096512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6D17BBB-9BE8-D439-0C6C-FF2F02714F85}"/>
                </a:ext>
              </a:extLst>
            </p:cNvPr>
            <p:cNvSpPr txBox="1"/>
            <p:nvPr/>
          </p:nvSpPr>
          <p:spPr>
            <a:xfrm>
              <a:off x="7286044" y="6096414"/>
              <a:ext cx="4986675" cy="6480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US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Figure 6. Adversarial generated image by </a:t>
              </a:r>
              <a:r>
                <a:rPr lang="en-US" i="1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PatchCross</a:t>
              </a:r>
              <a:r>
                <a:rPr lang="en-US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 classified as Pinwheel by ResNet-50.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298788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FB60E8C-7224-44A4-87A0-46A1711DD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86DD4F-1A08-4AEB-7889-330FB392C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8" y="386930"/>
            <a:ext cx="10141799" cy="130055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300" dirty="0"/>
              <a:t>Experimental Results: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DA32751-37A2-45C0-BE94-63D375E2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C6B6B84-1E13-CB8B-CB5C-1B087F0689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71990" y="2294103"/>
            <a:ext cx="8211372" cy="285345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5865666-FBDB-72C8-BD79-39E5F9AD0B2A}"/>
              </a:ext>
            </a:extLst>
          </p:cNvPr>
          <p:cNvSpPr txBox="1"/>
          <p:nvPr/>
        </p:nvSpPr>
        <p:spPr>
          <a:xfrm>
            <a:off x="3142833" y="5292311"/>
            <a:ext cx="8240529" cy="7816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TABLE I — COMPARATIVE RESULTS. BUDGETS: </a:t>
            </a:r>
            <a:r>
              <a:rPr lang="en-US" sz="1600" b="1" dirty="0"/>
              <a:t>N=6</a:t>
            </a:r>
            <a:r>
              <a:rPr lang="en-US" sz="1600" dirty="0"/>
              <a:t> WITH </a:t>
            </a:r>
            <a:r>
              <a:rPr lang="en-US" sz="1600" b="1" dirty="0" err="1"/>
              <a:t>AREA_OCCLU</a:t>
            </a:r>
            <a:r>
              <a:rPr lang="en-US" sz="1600" b="1" dirty="0"/>
              <a:t>=2%</a:t>
            </a:r>
            <a:r>
              <a:rPr lang="en-US" sz="1600" dirty="0"/>
              <a:t> FOR </a:t>
            </a:r>
            <a:r>
              <a:rPr lang="en-US" sz="1600" i="1" dirty="0"/>
              <a:t>PATCHATTACK</a:t>
            </a:r>
            <a:r>
              <a:rPr lang="en-US" sz="1600" dirty="0"/>
              <a:t> AND </a:t>
            </a:r>
            <a:r>
              <a:rPr lang="en-US" sz="1600" i="1" dirty="0"/>
              <a:t>SHAPEAWARE</a:t>
            </a:r>
            <a:r>
              <a:rPr lang="en-US" sz="1600" dirty="0"/>
              <a:t>;  </a:t>
            </a:r>
            <a:r>
              <a:rPr lang="en-US" sz="1600" b="1" dirty="0"/>
              <a:t>N=10</a:t>
            </a:r>
            <a:r>
              <a:rPr lang="en-US" sz="1600" dirty="0"/>
              <a:t> FOR </a:t>
            </a:r>
            <a:r>
              <a:rPr lang="en-US" sz="1600" i="1" dirty="0"/>
              <a:t>PATCHCROSS</a:t>
            </a:r>
            <a:r>
              <a:rPr lang="en-US" sz="1600" dirty="0"/>
              <a:t>; QUERY LIMITS: </a:t>
            </a:r>
            <a:r>
              <a:rPr lang="en-US" sz="1600" b="1" dirty="0"/>
              <a:t>Q=12,250</a:t>
            </a:r>
            <a:r>
              <a:rPr lang="en-US" sz="1600" dirty="0"/>
              <a:t> PER AGENT.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A55FBCD-CD42-40F5-8A1B-3203F9CAE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598AC1-F951-FE26-8C5B-353AC3A21D4B}"/>
              </a:ext>
            </a:extLst>
          </p:cNvPr>
          <p:cNvSpPr txBox="1"/>
          <p:nvPr/>
        </p:nvSpPr>
        <p:spPr>
          <a:xfrm>
            <a:off x="-2" y="2451378"/>
            <a:ext cx="3226676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As shown in table 1; ResNet-50: </a:t>
            </a:r>
            <a:r>
              <a:rPr lang="en-US" sz="2000" b="1" dirty="0"/>
              <a:t>ASR = 100%; ShapeAware</a:t>
            </a:r>
            <a:r>
              <a:rPr lang="en-US" sz="2000" dirty="0"/>
              <a:t> ↓ANQ ↓APA; PatchCross ≈ ½ queries, minimal area.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ViT</a:t>
            </a:r>
            <a:r>
              <a:rPr lang="en-US" sz="2000" dirty="0"/>
              <a:t>-B/16: PatchAttack degraded (82% ASR); ShapeAware 98%; PatchCross 96% with </a:t>
            </a:r>
            <a:r>
              <a:rPr lang="en-US" sz="2000" b="1" dirty="0"/>
              <a:t>2% APA.</a:t>
            </a:r>
          </a:p>
        </p:txBody>
      </p:sp>
    </p:spTree>
    <p:extLst>
      <p:ext uri="{BB962C8B-B14F-4D97-AF65-F5344CB8AC3E}">
        <p14:creationId xmlns:p14="http://schemas.microsoft.com/office/powerpoint/2010/main" val="26254372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F7921D-5F76-CF75-757E-1E4EF366F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 fontScale="90000"/>
          </a:bodyPr>
          <a:lstStyle/>
          <a:p>
            <a:r>
              <a:rPr lang="en-US" sz="4300" dirty="0"/>
              <a:t>This Figure Says It All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EF158-FEFD-7A32-F058-2CD3D1639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560" y="2306445"/>
            <a:ext cx="5012301" cy="3811989"/>
          </a:xfrm>
        </p:spPr>
        <p:txBody>
          <a:bodyPr anchor="ctr">
            <a:normAutofit/>
          </a:bodyPr>
          <a:lstStyle/>
          <a:p>
            <a:r>
              <a:rPr lang="en-US" sz="2200" dirty="0"/>
              <a:t>Figure 7 shows the trade-off between area and queries, with area_occlu: O ∈ {0.02, 0.04, 0.10, 0.25}.</a:t>
            </a:r>
          </a:p>
          <a:p>
            <a:r>
              <a:rPr lang="en-US" sz="2200" dirty="0"/>
              <a:t>Larger O lowers query counts; ASR saturates at 100% for O ≥ 0.04.</a:t>
            </a:r>
          </a:p>
          <a:p>
            <a:r>
              <a:rPr lang="en-US" sz="2200" dirty="0"/>
              <a:t>ShapeAware points always below (fewer queries) and left (smaller area).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500CE5-4425-BD11-88DC-85A3F3EF94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77"/>
          <a:stretch>
            <a:fillRect/>
          </a:stretch>
        </p:blipFill>
        <p:spPr>
          <a:xfrm>
            <a:off x="5451006" y="897165"/>
            <a:ext cx="6740994" cy="50296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0D11F34-64A1-8CEE-B4E3-761045C0E0D8}"/>
              </a:ext>
            </a:extLst>
          </p:cNvPr>
          <p:cNvSpPr txBox="1"/>
          <p:nvPr/>
        </p:nvSpPr>
        <p:spPr>
          <a:xfrm>
            <a:off x="4970421" y="6310090"/>
            <a:ext cx="7379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Figure 7 Area–queries trade-off on ResNet-50 under varying area_occlu O</a:t>
            </a:r>
          </a:p>
        </p:txBody>
      </p:sp>
    </p:spTree>
    <p:extLst>
      <p:ext uri="{BB962C8B-B14F-4D97-AF65-F5344CB8AC3E}">
        <p14:creationId xmlns:p14="http://schemas.microsoft.com/office/powerpoint/2010/main" val="3209555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615E56-06E7-4A3A-6688-518CD3504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4300" dirty="0"/>
              <a:t>Key Takeaways: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9570A-73A0-60B7-03B0-356555B17B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US" sz="2400" dirty="0"/>
              <a:t>Geometry matters: shape decisions lower ANQ under same occlusion.</a:t>
            </a:r>
          </a:p>
          <a:p>
            <a:r>
              <a:rPr lang="en-US" sz="2400" dirty="0"/>
              <a:t>ShapeAware → compact, efficient.</a:t>
            </a:r>
          </a:p>
          <a:p>
            <a:r>
              <a:rPr lang="en-US" sz="2400" dirty="0"/>
              <a:t>The area penalty in ShapeAware achieves faster convergence even when only a single patch is added; that is, it acts as a regularizer that improves the exploration–exploitation balance.</a:t>
            </a:r>
          </a:p>
          <a:p>
            <a:r>
              <a:rPr lang="en-US" sz="2400" dirty="0"/>
              <a:t>PatchCross → minimal area, high camouflage.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659682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C799903-48D5-4A31-A1A2-541072D97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8EFFF109-FC58-4FD3-BE05-9775A131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E1B96AD6-92A9-4273-A62B-96A1C3E0B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478D9D-69CF-1364-0511-280A67E01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300" dirty="0"/>
              <a:t>Future Work: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B81C1-7570-33BD-DC38-8AC94ED03F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4149" y="932688"/>
            <a:ext cx="6526623" cy="4992624"/>
          </a:xfrm>
        </p:spPr>
        <p:txBody>
          <a:bodyPr anchor="ctr">
            <a:normAutofit/>
          </a:bodyPr>
          <a:lstStyle/>
          <a:p>
            <a:r>
              <a:rPr lang="en-US" sz="2200" dirty="0"/>
              <a:t>Extend geometry to curved/spline primitives.</a:t>
            </a:r>
          </a:p>
          <a:p>
            <a:r>
              <a:rPr lang="en-US" sz="2200" dirty="0"/>
              <a:t>Test in physical-world and decision-based settings.</a:t>
            </a:r>
          </a:p>
          <a:p>
            <a:r>
              <a:rPr lang="en-US" sz="2200" dirty="0"/>
              <a:t>Evaluate attacks against adversarial defenses.</a:t>
            </a:r>
          </a:p>
        </p:txBody>
      </p:sp>
    </p:spTree>
    <p:extLst>
      <p:ext uri="{BB962C8B-B14F-4D97-AF65-F5344CB8AC3E}">
        <p14:creationId xmlns:p14="http://schemas.microsoft.com/office/powerpoint/2010/main" val="40084800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099B7F-1B60-2AD8-4FC3-93DDBACB0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7101" y="735283"/>
            <a:ext cx="4978399" cy="3165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Any Questions?</a:t>
            </a:r>
          </a:p>
        </p:txBody>
      </p:sp>
      <p:pic>
        <p:nvPicPr>
          <p:cNvPr id="6" name="Graphic 5" descr="Question mark">
            <a:extLst>
              <a:ext uri="{FF2B5EF4-FFF2-40B4-BE49-F238E27FC236}">
                <a16:creationId xmlns:a16="http://schemas.microsoft.com/office/drawing/2014/main" id="{615ED633-E236-BDD4-3921-AB2FB32D6B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8" name="Graphic 7" descr="Question mark">
            <a:extLst>
              <a:ext uri="{FF2B5EF4-FFF2-40B4-BE49-F238E27FC236}">
                <a16:creationId xmlns:a16="http://schemas.microsoft.com/office/drawing/2014/main" id="{7FCEC587-7E4D-4181-996C-4ED7969610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600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841</TotalTime>
  <Words>539</Words>
  <Application>Microsoft Office PowerPoint</Application>
  <PresentationFormat>Widescreen</PresentationFormat>
  <Paragraphs>62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Office Theme</vt:lpstr>
      <vt:lpstr>Geometry-Aware Patch Attacks: ShapeAware and PatchCross</vt:lpstr>
      <vt:lpstr>Patch-based attacks </vt:lpstr>
      <vt:lpstr>PatchAttack: Texture-based Patch Attack (TPA)(Chenglin-Yang) </vt:lpstr>
      <vt:lpstr>PatchAttack TPA loop</vt:lpstr>
      <vt:lpstr>TPA Limitations:</vt:lpstr>
      <vt:lpstr>Methodology Overview :</vt:lpstr>
      <vt:lpstr>ShapeAware:</vt:lpstr>
      <vt:lpstr>PatchCross:</vt:lpstr>
      <vt:lpstr>Experimental Results: </vt:lpstr>
      <vt:lpstr>This Figure Says It All</vt:lpstr>
      <vt:lpstr>Key Takeaways:</vt:lpstr>
      <vt:lpstr>Future Work:</vt:lpstr>
      <vt:lpstr>Any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Ahmed Abd Elkader Ahmed Abd Elkader Ahmed</dc:creator>
  <cp:lastModifiedBy>AHMED ABDELKADER AHMED</cp:lastModifiedBy>
  <cp:revision>16</cp:revision>
  <dcterms:created xsi:type="dcterms:W3CDTF">2025-09-23T17:47:55Z</dcterms:created>
  <dcterms:modified xsi:type="dcterms:W3CDTF">2025-11-24T03:18:50Z</dcterms:modified>
</cp:coreProperties>
</file>